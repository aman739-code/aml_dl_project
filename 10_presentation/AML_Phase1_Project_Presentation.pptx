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9DCCD"/>
                </a:solidFill>
                <a:latin typeface="Aptos"/>
              </a:defRPr>
            </a:pPr>
            <a:r>
              <a:t>ADVANCED MACHINE LEARNING •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Neuro-Symbolic Causal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546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CE6F2"/>
                </a:solidFill>
                <a:latin typeface="Aptos"/>
              </a:defRPr>
            </a:pPr>
            <a:r>
              <a:t>From structured causal claims to ML baselines, directed acyclic graphs, and Bayesian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212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Dataset: Corr2Cause  |  Scope: AML only (Deep Learning reserved for Phase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80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ECDE1"/>
                </a:solidFill>
                <a:latin typeface="Aptos"/>
              </a:defRPr>
            </a:pPr>
            <a:r>
              <a:t>Team members: add names before submission • CSAI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1. 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Correlation is an association; causation asks whether changing one variable would change another.</a:t>
            </a:r>
          </a:p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A premise describes correlations and (conditional) independencies; a hypothesis proposes a causal claim.</a:t>
            </a:r>
          </a:p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Task: decide whether the hypothesis is valid given the stated evidence.</a:t>
            </a:r>
          </a:p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Why more than classification? Extracted relations need global structure and a probabilistic representation.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2. Project 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Build a reproducible AML baseline using handcrafted, interpretable features.</a:t>
            </a:r>
          </a:p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Compare a rule-based baseline with Logistic Regression, Linear SVM, and Random Forest.</a:t>
            </a:r>
          </a:p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Construct a candidate DAG, enforce acyclicity, and represent it as a Bayesian network.</a:t>
            </a:r>
          </a:p>
          <a:p>
            <a:pPr>
              <a:spcAft>
                <a:spcPts val="15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Phase 1 does not implement BERT/DistilBERT; transformer fine-tuning belongs to Phase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3. Dataset: Corr2Cause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Train: 205,734 rows • Dev: 1,076 rows • Test: 1,162 rows (as recorded in project reports).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Binary label: 0 = invalid claim, 1 = valid claim.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Examples use abstract variables A–F and structured premise/hypothesis text.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Class imbalance: positive label is 18.5% in train, 12.9% in dev, 15.5% in test.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No missing values or exact duplicate texts were reported within splits.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4. Data checks &amp;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Document IDs and exact premise+hypothesis texts have zero overlap across splits.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Premise-only overlap report: 2 train–dev and 3 dev–test overlaps; these may be intentional shared structures.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Use the held-out test set once for final comparison; tune only on train/dev.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Because templates are structured, near-duplicate templates may make generalisation harder to estimate.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5.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29 handcrafted features are reported: structural counts, density ratios, text statistics, cue words, hypothesis type, and variable overlap.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Examples: number of correlations, number of independencies, independence ratio, hypothesis type, and number of variables.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Feature extraction/scaling should be fitted on training data only to avoid leakage.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Strength: fast and interpretable. Limitation: surface patterns may miss logical/semantic entailment.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6. Models &amp; evaluation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RuleBased: conservative regex/pattern matching over structured text.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Logistic Regression: linear probabilistic classifier with regularisation.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Linear SVM: maximum-margin linear decision boundary.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Random Forest: ensemble of decision trees that models feature interactions.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Compare accuracy, macro precision, macro recall, macro F1, and per-class precision/recall/F1.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7. Results: held-out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Logistic Regression — accuracy 0.6799; macro F1 0.5839.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Linear SVM — accuracy 0.6807; macro F1 0.5907 (best macro F1 among ML models).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Random Forest — accuracy 0.6824; macro F1 0.5832.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RuleBased — accuracy 0.8184; macro F1 0.4725; high accuracy is misleading under class imbalance.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Positive-class (valid claim) F1 for Linear SVM: 0.3987; recall 0.6833; precision 0.2815.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8. Interpreting the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Accuracy alone rewards predicting the majority negative class; macro F1 gives both classes equal weight.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RuleBased has 0.9633 recall for class 0 but only 0.0278 recall for class 1: it misses most valid claims.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Linear SVM is the strongest ML model by macro F1, but its positive precision remains low.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Report the exact metric and class whenever saying a model is “best”.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9. From relations to a DAG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Candidate relation triples become directed edges in a NetworkX graph.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Self-loops are rejected; directed cycles are detected.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Recorded example: 6 nodes, 30 edges before resolution; 15 edges removed; 15 edges remain in a DAG.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Important caveat: all listed edge confidences were 1.000, so “lowest confidence” did not truly discriminate; tie-breaking removed the last discovered edge.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A DAG is structurally valid, but acyclicity alone does not prove the edges are causally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10. Bayesian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A Bayesian network combines a DAG with conditional probability distributions (CPDs).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Joint distribution factorises: P(V₁,…,Vₙ) = ∏ᵢ P(Vᵢ | Parents(Vᵢ)).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The project uses binary variables and informative CPDs/priors because observational data for the abstract graph variables is not available.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Supports conditional queries and demonstration intervention queries using do(·).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Treat query outputs as demonstrations unless validated against known causal ground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11. Limitations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Synthetic, template-generated language and abstract variables may not generalise to real-world scientific text.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Class imbalance; low precision for valid claims; metrics vary across splits.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The graph stage depends on extracted edges and arbitrary tie-breaking when confidence scores are equal.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CPDs based on priors are assumptions, not empirical causal effect estimates.</a:t>
            </a:r>
          </a:p>
          <a:p>
            <a:pPr>
              <a:spcAft>
                <a:spcPts val="15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Premise-level overlap and the relationship between per-example labels and global graph construction should be documented carefully.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12. Conclusion &amp; Phase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Phase 1 provides a reproducible, interpretable AML baseline and a symbolic probabilistic pipeline.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Linear SVM is the best ML classifier by macro F1 (0.5907), while rule-based accuracy is inflated by class imbalance.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Next: fine-tune DistilBERT/BERT for end-to-end premise–hypothesis classification and compare fairly on the same split.</a:t>
            </a:r>
          </a:p>
          <a:p>
            <a:pPr>
              <a:spcAft>
                <a:spcPts val="15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 Future improvements: calibrated edge confidence, principled graph aggregation, sensitivity analysis, and ground-truth causal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1F38"/>
                </a:solidFill>
                <a:latin typeface="Aptos"/>
              </a:defRPr>
            </a:pPr>
            <a:r>
              <a:t>References &amp; submission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27080" cy="3200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•  Pearl (1988), Probabilistic Reasoning in Intelligent Systems.</a:t>
            </a:r>
          </a:p>
          <a:p>
            <a:pPr>
              <a:spcAft>
                <a:spcPts val="1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•  Pearl (2000), Causality: Models, Reasoning, and Inference.</a:t>
            </a:r>
          </a:p>
          <a:p>
            <a:pPr>
              <a:spcAft>
                <a:spcPts val="1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•  Jin et al. (2023), Corr2Cause / correlation-versus-causation benchmark.</a:t>
            </a:r>
          </a:p>
          <a:p>
            <a:pPr>
              <a:spcAft>
                <a:spcPts val="1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•  Devlin et al. (2019), BERT: Pre-training of Deep Bidirectional Transformers for Language Understanding.</a:t>
            </a:r>
          </a:p>
          <a:p>
            <a:pPr>
              <a:spcAft>
                <a:spcPts val="15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t>•  Before submission: add team names/contributions, confirm rerun outputs, verify graph/BN claims, and update figures if generated.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AML Phase 1 • Corr2Cause causal reasoning baseline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